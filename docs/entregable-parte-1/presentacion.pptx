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proyecto, la asignatura y la rama que se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AxionERP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gestión empresarial — Entregable, Parte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con Tecnologías Propietarias y Open Source I (ISO-615)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OpenSource1 · rama Fix-Features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 · Blazor Static SSR · PostgreSQL 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objetivos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de hojas de cálculo dispersas a una sola fuente de datos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actual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productos, existencias y saldos en hojas de cálculo separadas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acceso ni registro de quién cambió qué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que no descuentan inventario; cobros en otro archivo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manual al cierre de cada período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84048" cy="384048"/>
          </a:xfrm>
          <a:prstGeom prst="ellipse">
            <a:avLst/>
          </a:prstGeom>
          <a:solidFill>
            <a:srgbClr val="2155D9"/>
          </a:solidFill>
          <a:ln w="12700">
            <a:solidFill>
              <a:srgbClr val="215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335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productos, categorías y usuarios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039112"/>
            <a:ext cx="384048" cy="384048"/>
          </a:xfrm>
          <a:prstGeom prst="ellipse">
            <a:avLst/>
          </a:prstGeom>
          <a:solidFill>
            <a:srgbClr val="2155D9"/>
          </a:solidFill>
          <a:ln w="12700">
            <a:solidFill>
              <a:srgbClr val="215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ventas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de movimientos, facturas y notas de crédito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06624"/>
            <a:ext cx="384048" cy="384048"/>
          </a:xfrm>
          <a:prstGeom prst="ellipse">
            <a:avLst/>
          </a:prstGeom>
          <a:solidFill>
            <a:srgbClr val="2155D9"/>
          </a:solidFill>
          <a:ln w="12700">
            <a:solidFill>
              <a:srgbClr val="215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por cobrar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935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aplicados a facturas pendientes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374136"/>
            <a:ext cx="384048" cy="384048"/>
          </a:xfrm>
          <a:prstGeom prst="ellipse">
            <a:avLst/>
          </a:prstGeom>
          <a:solidFill>
            <a:srgbClr val="2155D9"/>
          </a:solidFill>
          <a:ln w="12700">
            <a:solidFill>
              <a:srgbClr val="215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reportes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602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criterio, búsqueda global, PDF y Excel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4041648"/>
            <a:ext cx="384048" cy="384048"/>
          </a:xfrm>
          <a:prstGeom prst="ellipse">
            <a:avLst/>
          </a:prstGeom>
          <a:solidFill>
            <a:srgbClr val="2155D9"/>
          </a:solidFill>
          <a:ln w="12700">
            <a:solidFill>
              <a:srgbClr val="215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4270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append-only y bitácora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y permisos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 de ASP.NET Core Identity; las mismas políticas en la interfaz y en la API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F1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55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3075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CanConsult, CanAdd, CanModify, CanDelete y CanAdministrar, derivadas del rol.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3291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55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373075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acción sin permiso no se genera en el HTML: el usuario solo ve lo que puede hacer.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3291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55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73075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siempre: un POST forzado recibe un 403 real que la interfaz muestra como mensaje.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por qué ASP.NET Core 10 con Blazor Static SSR y PostgreSQL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2155D9"/>
          </a:solidFill>
          <a:ln w="12700">
            <a:solidFill>
              <a:srgbClr val="215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54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10 (LTS)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y net10.0; soporte a largo plazo, Kestrel eficiente y DTOs tipados compartidos entre API e interfaz.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554480"/>
            <a:ext cx="384048" cy="384048"/>
          </a:xfrm>
          <a:prstGeom prst="ellipse">
            <a:avLst/>
          </a:prstGeom>
          <a:solidFill>
            <a:srgbClr val="2155D9"/>
          </a:solidFill>
          <a:ln w="12700">
            <a:solidFill>
              <a:srgbClr val="215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554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Blazor Static SSR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9933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completo desde el servidor, componentes reutilizables y formularios POST con antiforgery; sin WebSocket ni WebAssembly.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2155D9"/>
          </a:solidFill>
          <a:ln w="12700">
            <a:solidFill>
              <a:srgbClr val="215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17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6850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bases (negocio e identidad), tipos numeric exactos y concurrencia optimista con xmin.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246120"/>
            <a:ext cx="384048" cy="384048"/>
          </a:xfrm>
          <a:prstGeom prst="ellipse">
            <a:avLst/>
          </a:prstGeom>
          <a:solidFill>
            <a:srgbClr val="2155D9"/>
          </a:solidFill>
          <a:ln w="12700">
            <a:solidFill>
              <a:srgbClr val="215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Core + Dapper + MediatR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6850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para escrituras y 38 migraciones; Dapper para lecturas; MediatR con validación y transacción.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capas Onion; el JWT se queda en el servidor</a:t>
            </a:r>
            <a:endParaRPr lang="en-US" sz="1300" dirty="0"/>
          </a:p>
        </p:txBody>
      </p:sp>
      <p:pic>
        <p:nvPicPr>
          <p:cNvPr id="4" name="Image 0" descr="diagramas/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1595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195696"/>
            <a:ext cx="2606040" cy="1559184"/>
          </a:xfrm>
          <a:prstGeom prst="roundRect">
            <a:avLst>
              <a:gd name="adj" fmla="val 4692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305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55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2896"/>
            <a:ext cx="2286000" cy="101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→ cliente HTTP tipado → controlador → MediatR (Logging, Validation, Transaction) → EF Core / Dapper → PostgreSQL.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46120" y="3195696"/>
            <a:ext cx="2606040" cy="1559184"/>
          </a:xfrm>
          <a:prstGeom prst="roundRect">
            <a:avLst>
              <a:gd name="adj" fmla="val 4692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3305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55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3652896"/>
            <a:ext cx="2286000" cy="101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· Application · Infrastructure · Api · Blazor. Las dependencias apuntan al dominio.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35040" y="3195696"/>
            <a:ext cx="2606040" cy="1559184"/>
          </a:xfrm>
          <a:prstGeom prst="roundRect">
            <a:avLst>
              <a:gd name="adj" fmla="val 4692"/>
            </a:avLst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3305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55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652896"/>
            <a:ext cx="2286000" cy="101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y SameSite=Strict con sesión de servidor; el navegador nunca ve el token.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— ER generado del esquema real (42 tablas), mostrado en dos vistas parciales</a:t>
            </a:r>
            <a:endParaRPr lang="en-US" sz="1300" dirty="0"/>
          </a:p>
        </p:txBody>
      </p:sp>
      <p:pic>
        <p:nvPicPr>
          <p:cNvPr id="4" name="Image 0" descr="diagramas/modelo-er-maestros-invent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783080" cy="2869346"/>
          </a:xfrm>
          <a:prstGeom prst="rect">
            <a:avLst/>
          </a:prstGeom>
        </p:spPr>
      </p:pic>
      <p:pic>
        <p:nvPicPr>
          <p:cNvPr id="5" name="Image 1" descr="diagramas/modelo-er-ventas-cx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280160"/>
            <a:ext cx="1783080" cy="323986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20040" y="4565745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Maestros e inventario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2331720" y="4565745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CxC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280160"/>
          <a:ext cx="4160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97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 solicitada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 reales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/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AspNetUsers, AspNetRoles, AspNetUserRoles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SociosNegocio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/ Categorías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Productos, CategoriasProducto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MovimientosProducto, MovimientosValor, Almacenes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/ Facturas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FacturasVenta, LineasFacturaVenta (+ borradores)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Cuentas por cobrar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MovimientosCliente, MovimientosClienteDetalle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526280" y="41605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uuid en maestros, número de documento en posteados y bigint en libros; importes numeric(18,4).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Mantenimientos y patrón de página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6 y 8 — agregar, consultar, modificar, eliminar y limpiar campos con el mismo patrón</a:t>
            </a:r>
            <a:endParaRPr lang="en-US" sz="1300" dirty="0"/>
          </a:p>
        </p:txBody>
      </p:sp>
      <p:pic>
        <p:nvPicPr>
          <p:cNvPr id="4" name="Image 0" descr="capturas/12-cliente-seleccion-ac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23360" cy="2514600"/>
          </a:xfrm>
          <a:prstGeom prst="rect">
            <a:avLst/>
          </a:prstGeom>
        </p:spPr>
      </p:pic>
      <p:pic>
        <p:nvPicPr>
          <p:cNvPr id="5" name="Image 1" descr="capturas/13-cliente-menu-cr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23360" cy="2514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seleccionada (?sel=): Editar y Eliminar habilitados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▾ desde un cliente: factura, nota de crédito, cobro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5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PageToolbar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+ Nuevo, Crear ▾, Ver ▾, Editar, Eliminar según permisos.   </a:t>
            </a:r>
            <a:pPr indent="0" marL="0">
              <a:buNone/>
            </a:pPr>
            <a:r>
              <a:rPr lang="en-US" sz="1250" b="1" dirty="0">
                <a:solidFill>
                  <a:srgbClr val="215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EntityFormPage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Guardar, Limpiar campos y Cancelar, sin JavaScript.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 global y paleta Ctrl+K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— módulos y registros; funciona también sin JavaScript</a:t>
            </a:r>
            <a:endParaRPr lang="en-US" sz="1300" dirty="0"/>
          </a:p>
        </p:txBody>
      </p:sp>
      <p:pic>
        <p:nvPicPr>
          <p:cNvPr id="4" name="Image 0" descr="capturas/24-paleta-modul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23360" cy="2514600"/>
          </a:xfrm>
          <a:prstGeom prst="rect">
            <a:avLst/>
          </a:prstGeom>
        </p:spPr>
      </p:pic>
      <p:pic>
        <p:nvPicPr>
          <p:cNvPr id="5" name="Image 1" descr="capturas/25-buscar-resultad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23360" cy="2514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Ctrl+K: módulos sin acentos ni mayúsculas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/buscar?q=cliente: módulos, clientes y facturas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vía GET /api/busqueda (2–100 caracteres, ILIKE escapado); la paleta pasa por el servidor Blazor, así que el JWT no llega al navegador. Filtros por listado con *, || y &amp;&amp;.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y resultados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9 — la misma versión del código que se muestra en las capturas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F3160"/>
          </a:solidFill>
          <a:ln w="12700">
            <a:solidFill>
              <a:srgbClr val="1F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xUnit en verde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15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unitarias, API contra PostgreSQL real y SSR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F3160"/>
          </a:solidFill>
          <a:ln w="12700">
            <a:solidFill>
              <a:srgbClr val="1F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4630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E2E Playwright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15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en la ejecución principal + API caída aparte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F3160"/>
          </a:solidFill>
          <a:ln w="12700">
            <a:solidFill>
              <a:srgbClr val="1F31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4630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de compilación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715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build test.slnx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altas, modificaciones, eliminaciones, validaciones, búsquedas y errores 403, 404 y API caída.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documento-tecnico.docx, diagramas/, capturas/, evidencias/, guion-demo.md.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 Siguiente: demostración en vivo.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AxionERP — Entregable, Parte 1</dc:title>
  <dc:subject>PptxGenJS Presentation</dc:subject>
  <dc:creator>PptxGenJS</dc:creator>
  <cp:lastModifiedBy>PptxGenJS</cp:lastModifiedBy>
  <cp:revision>1</cp:revision>
  <dcterms:created xsi:type="dcterms:W3CDTF">2026-09-29T09:04:42Z</dcterms:created>
  <dcterms:modified xsi:type="dcterms:W3CDTF">2026-09-29T09:04:42Z</dcterms:modified>
</cp:coreProperties>
</file>