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proyecto, la asignatura y la rama que se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AxionERP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48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web de gestión empresarial — Entregable, Parte 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de Software con Tecnologías Propietarias y Open Source I (ISO-615)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OpenSource1 · rama Fix-Features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43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10 · Blazor Static SSR · PostgreSQL 17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 y objetivos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 — de hojas de cálculo dispersas a una sola fuente de datos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840480" cy="3383280"/>
          </a:xfrm>
          <a:prstGeom prst="roundRect">
            <a:avLst>
              <a:gd name="adj" fmla="val 2162"/>
            </a:avLst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Situación actual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4520"/>
            <a:ext cx="34290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Clientes, productos, existencias y saldos en hojas de cálculo separadas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control de acceso ni registro de quién cambió qué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Ventas que no descuentan inventario; cobros en otro archivo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Conciliación manual al cierre de cada período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384048" cy="384048"/>
          </a:xfrm>
          <a:prstGeom prst="ellipse">
            <a:avLst/>
          </a:prstGeom>
          <a:solidFill>
            <a:srgbClr val="2155D9"/>
          </a:solidFill>
          <a:ln w="12700">
            <a:solidFill>
              <a:srgbClr val="2155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133502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600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Clientes, productos, categorías y usuarios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2039112"/>
            <a:ext cx="384048" cy="384048"/>
          </a:xfrm>
          <a:prstGeom prst="ellipse">
            <a:avLst/>
          </a:prstGeom>
          <a:solidFill>
            <a:srgbClr val="2155D9"/>
          </a:solidFill>
          <a:ln w="12700">
            <a:solidFill>
              <a:srgbClr val="215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20025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y ventas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2677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 de inventario, facturas y notas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706624"/>
            <a:ext cx="384048" cy="384048"/>
          </a:xfrm>
          <a:prstGeom prst="ellipse">
            <a:avLst/>
          </a:prstGeom>
          <a:solidFill>
            <a:srgbClr val="2155D9"/>
          </a:solidFill>
          <a:ln w="12700">
            <a:solidFill>
              <a:srgbClr val="215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63440" y="2706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6700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Cuentas por cobrar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293522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Cobros aplicados a facturas pendientes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374136"/>
            <a:ext cx="384048" cy="384048"/>
          </a:xfrm>
          <a:prstGeom prst="ellipse">
            <a:avLst/>
          </a:prstGeom>
          <a:solidFill>
            <a:srgbClr val="2155D9"/>
          </a:solidFill>
          <a:ln w="12700">
            <a:solidFill>
              <a:srgbClr val="2155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63440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3337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y reportes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36027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criterio, búsqueda global, PDF y Excel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63440" y="4041648"/>
            <a:ext cx="384048" cy="384048"/>
          </a:xfrm>
          <a:prstGeom prst="ellipse">
            <a:avLst/>
          </a:prstGeom>
          <a:solidFill>
            <a:srgbClr val="2155D9"/>
          </a:solidFill>
          <a:ln w="12700">
            <a:solidFill>
              <a:srgbClr val="2155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6344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212080" y="40050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42702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append-only y bitácora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Usuarios y permisos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roles de ASP.NET Core Identity; las mismas políticas en la interfaz y en la API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280160"/>
                <a:gridCol w="1280160"/>
                <a:gridCol w="1280160"/>
                <a:gridCol w="128016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Agregar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Administrador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F12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F12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F12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Ejecutor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665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F12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F12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F12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2918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34015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55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730752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CanConsult, CanAdd, CanModify, CanDelete y CanAdministrar, derivadas del rol.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6120" y="32918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29000" y="34015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55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Interfaz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429000" y="3730752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acción sin permiso no se genera en el HTML: el usuario solo ve lo que puede hacer.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35040" y="32918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0" y="34015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55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3730752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siempre: un POST forzado recibe un 403 real que la interfaz muestra como mensaje.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Tecnología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 — por qué ASP.NET Core 10 con Blazor Static SSR y PostgreSQL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2155D9"/>
          </a:solidFill>
          <a:ln w="12700">
            <a:solidFill>
              <a:srgbClr val="215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544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ASP.NET Core 10 (LTS)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99339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y net10.0; soporte a largo plazo, Kestrel eficiente y DTOs tipados compartidos entre API e interfaz.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554480"/>
            <a:ext cx="384048" cy="384048"/>
          </a:xfrm>
          <a:prstGeom prst="ellipse">
            <a:avLst/>
          </a:prstGeom>
          <a:solidFill>
            <a:srgbClr val="2155D9"/>
          </a:solidFill>
          <a:ln w="12700">
            <a:solidFill>
              <a:srgbClr val="2155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15544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Blazor Static SSR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99339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completo desde el servidor, componentes reutilizables y formularios POST con antiforgery; sin WebSocket ni WebAssembly.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06324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246120"/>
            <a:ext cx="384048" cy="384048"/>
          </a:xfrm>
          <a:prstGeom prst="ellipse">
            <a:avLst/>
          </a:prstGeom>
          <a:solidFill>
            <a:srgbClr val="2155D9"/>
          </a:solidFill>
          <a:ln w="12700">
            <a:solidFill>
              <a:srgbClr val="215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2461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 17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68503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bases (negocio e identidad), tipos numeric exactos y concurrencia optimista con xmin.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06324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3246120"/>
            <a:ext cx="384048" cy="384048"/>
          </a:xfrm>
          <a:prstGeom prst="ellipse">
            <a:avLst/>
          </a:prstGeom>
          <a:solidFill>
            <a:srgbClr val="2155D9"/>
          </a:solidFill>
          <a:ln w="12700">
            <a:solidFill>
              <a:srgbClr val="2155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32461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 Core + Dapper + MediatR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394960" y="368503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 Core para escrituras y 38 migraciones; Dapper para lecturas; MediatR con validación y transacción.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 — capas Onion; el JWT se queda en el servidor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291840" cy="457200"/>
          </a:xfrm>
          <a:prstGeom prst="roundRect">
            <a:avLst>
              <a:gd name="adj" fmla="val 12000"/>
            </a:avLst>
          </a:prstGeom>
          <a:solidFill>
            <a:srgbClr val="E8EEFC"/>
          </a:solidFill>
          <a:ln w="12700">
            <a:solidFill>
              <a:srgbClr val="C7D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34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(navegador)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GET/POST HTML · cookie HttpOnly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03120" y="1691640"/>
            <a:ext cx="0" cy="146304"/>
          </a:xfrm>
          <a:prstGeom prst="line">
            <a:avLst/>
          </a:prstGeom>
          <a:noFill/>
          <a:ln w="19050">
            <a:solidFill>
              <a:srgbClr val="2155D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57200" y="1837944"/>
            <a:ext cx="3291840" cy="457200"/>
          </a:xfrm>
          <a:prstGeom prst="roundRect">
            <a:avLst>
              <a:gd name="adj" fmla="val 12000"/>
            </a:avLst>
          </a:prstGeom>
          <a:solidFill>
            <a:srgbClr val="E8EEFC"/>
          </a:solidFill>
          <a:ln w="12700">
            <a:solidFill>
              <a:srgbClr val="C7D2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8379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OpenSource1.Blazor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SSR · cliente HTTP tipado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03120" y="2295144"/>
            <a:ext cx="0" cy="146304"/>
          </a:xfrm>
          <a:prstGeom prst="line">
            <a:avLst/>
          </a:prstGeom>
          <a:noFill/>
          <a:ln w="19050">
            <a:solidFill>
              <a:srgbClr val="2155D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57200" y="2441448"/>
            <a:ext cx="3291840" cy="457200"/>
          </a:xfrm>
          <a:prstGeom prst="roundRect">
            <a:avLst>
              <a:gd name="adj" fmla="val 12000"/>
            </a:avLst>
          </a:prstGeom>
          <a:solidFill>
            <a:srgbClr val="E8EEFC"/>
          </a:solidFill>
          <a:ln w="12700">
            <a:solidFill>
              <a:srgbClr val="C7D2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OpenSource1.Api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Controladores REST · JWT · políticas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103120" y="2898648"/>
            <a:ext cx="0" cy="146304"/>
          </a:xfrm>
          <a:prstGeom prst="line">
            <a:avLst/>
          </a:prstGeom>
          <a:noFill/>
          <a:ln w="19050">
            <a:solidFill>
              <a:srgbClr val="2155D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" y="3044952"/>
            <a:ext cx="3291840" cy="457200"/>
          </a:xfrm>
          <a:prstGeom prst="roundRect">
            <a:avLst>
              <a:gd name="adj" fmla="val 12000"/>
            </a:avLst>
          </a:prstGeom>
          <a:solidFill>
            <a:srgbClr val="E8EEFC"/>
          </a:solidFill>
          <a:ln w="12700">
            <a:solidFill>
              <a:srgbClr val="C7D2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0449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OpenSource1.Application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MediatR · validación · transacción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103120" y="3502152"/>
            <a:ext cx="0" cy="146304"/>
          </a:xfrm>
          <a:prstGeom prst="line">
            <a:avLst/>
          </a:prstGeom>
          <a:noFill/>
          <a:ln w="19050">
            <a:solidFill>
              <a:srgbClr val="2155D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200" y="3648456"/>
            <a:ext cx="3291840" cy="457200"/>
          </a:xfrm>
          <a:prstGeom prst="roundRect">
            <a:avLst>
              <a:gd name="adj" fmla="val 12000"/>
            </a:avLst>
          </a:prstGeom>
          <a:solidFill>
            <a:srgbClr val="E8EEFC"/>
          </a:solidFill>
          <a:ln w="12700">
            <a:solidFill>
              <a:srgbClr val="C7D2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64845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OpenSource1.Infrastructure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 Core (escritura) · Dapper (lectura)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103120" y="4105656"/>
            <a:ext cx="0" cy="146304"/>
          </a:xfrm>
          <a:prstGeom prst="line">
            <a:avLst/>
          </a:prstGeom>
          <a:noFill/>
          <a:ln w="19050">
            <a:solidFill>
              <a:srgbClr val="2155D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57200" y="4251960"/>
            <a:ext cx="3291840" cy="457200"/>
          </a:xfrm>
          <a:prstGeom prst="roundRect">
            <a:avLst>
              <a:gd name="adj" fmla="val 1200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51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17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AxionERP_App · AxionERP_Identity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0" y="123444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97680" y="13258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55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Flujo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164592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Blazor → cliente HTTP tipado → controlador → MediatR (Logging, Validation, Transaction) → EF Core / Dapper → PostgreSQL.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14800" y="242316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97680" y="2514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55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283464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· Application · Infrastructure · Api · Blazor. Las dependencias apuntan al dominio; el controlador delega en MediatR.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114800" y="361188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297680" y="3703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55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297680" y="40233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 y SameSite=Strict con sesión de servidor; el navegador nunca ve el token. La API decide con 401/403.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datos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4 — 42 tablas generadas con migraciones; entidades del enunciado → tablas reales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743200" cy="1737360"/>
          </a:xfrm>
          <a:prstGeom prst="roundRect">
            <a:avLst>
              <a:gd name="adj" fmla="val 4211"/>
            </a:avLst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441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Usuarios y roles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55064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5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AspNetUsers · AspNetRoles · AspNetUserRoles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3288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AxionERP_Identity (ASP.NET Core Identity)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83280" y="1234440"/>
            <a:ext cx="2743200" cy="1737360"/>
          </a:xfrm>
          <a:prstGeom prst="roundRect">
            <a:avLst>
              <a:gd name="adj" fmla="val 4211"/>
            </a:avLst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66160" y="13441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Clientes y CxC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1655064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5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SociosNegocio · MovimientosCliente · MovimientosClienteDetalle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53288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derivado de cargos, cobros y aplicaciones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2743200" cy="1737360"/>
          </a:xfrm>
          <a:prstGeom prst="roundRect">
            <a:avLst>
              <a:gd name="adj" fmla="val 4211"/>
            </a:avLst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1729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Productos e inventario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483864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5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· CategoriasProducto · Almacenes · MovimientosProducto · MovimientosValor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6168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Existencia y costo derivados de libros append-only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3063240"/>
            <a:ext cx="2743200" cy="1737360"/>
          </a:xfrm>
          <a:prstGeom prst="roundRect">
            <a:avLst>
              <a:gd name="adj" fmla="val 4211"/>
            </a:avLst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66160" y="31729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Ventas y facturas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3483864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5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FacturasVentaBorrador → FacturasVenta · LineasFacturaVenta · LineasIvaFacturaVenta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436168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editable; documento posteado inmutable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46520" y="1280160"/>
            <a:ext cx="384048" cy="384048"/>
          </a:xfrm>
          <a:prstGeom prst="ellipse">
            <a:avLst/>
          </a:prstGeom>
          <a:solidFill>
            <a:srgbClr val="2155D9"/>
          </a:solidFill>
          <a:ln w="12700">
            <a:solidFill>
              <a:srgbClr val="2155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12435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15179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 en maestros; Numero (texto) en documentos posteados; bigint en libros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46520" y="2148840"/>
            <a:ext cx="384048" cy="384048"/>
          </a:xfrm>
          <a:prstGeom prst="ellipse">
            <a:avLst/>
          </a:prstGeom>
          <a:solidFill>
            <a:srgbClr val="2155D9"/>
          </a:solidFill>
          <a:ln w="12700">
            <a:solidFill>
              <a:srgbClr val="2155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21122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238658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numeric(18,4); cantidades numeric(18,6)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46520" y="3017520"/>
            <a:ext cx="384048" cy="384048"/>
          </a:xfrm>
          <a:prstGeom prst="ellipse">
            <a:avLst/>
          </a:prstGeom>
          <a:solidFill>
            <a:srgbClr val="2155D9"/>
          </a:solidFill>
          <a:ln w="12700">
            <a:solidFill>
              <a:srgbClr val="2155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465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298094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Concurrencia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325526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xmin de PostgreSQL como token optimista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46520" y="3886200"/>
            <a:ext cx="384048" cy="384048"/>
          </a:xfrm>
          <a:prstGeom prst="ellipse">
            <a:avLst/>
          </a:prstGeom>
          <a:solidFill>
            <a:srgbClr val="2155D9"/>
          </a:solidFill>
          <a:ln w="12700">
            <a:solidFill>
              <a:srgbClr val="2155D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652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949440" y="384962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949440" y="41239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vistas ER por dominio y diccionario de datos en el documento (§4)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Mantenimientos y patrón de página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 6 y 8 — agregar, consultar, modificar, eliminar y limpiar campos con el mismo patrón</a:t>
            </a:r>
            <a:endParaRPr lang="en-US" sz="1300" dirty="0"/>
          </a:p>
        </p:txBody>
      </p:sp>
      <p:pic>
        <p:nvPicPr>
          <p:cNvPr id="4" name="Image 0" descr="capturas/12-cliente-seleccion-ac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023360" cy="2514600"/>
          </a:xfrm>
          <a:prstGeom prst="rect">
            <a:avLst/>
          </a:prstGeom>
        </p:spPr>
      </p:pic>
      <p:pic>
        <p:nvPicPr>
          <p:cNvPr id="5" name="Image 1" descr="capturas/13-cliente-menu-cre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4023360" cy="25146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3840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seleccionada (?sel=): Editar y Eliminar habilitados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4663440" y="3840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▾ desde un cliente: factura, nota de crédito, cobro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5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PageToolbar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+ Nuevo, Crear ▾, Ver ▾, Editar, Eliminar según permisos.   </a:t>
            </a:r>
            <a:pPr indent="0" marL="0">
              <a:buNone/>
            </a:pPr>
            <a:r>
              <a:rPr lang="en-US" sz="1250" b="1" dirty="0">
                <a:solidFill>
                  <a:srgbClr val="215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EntityFormPage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Guardar, Limpiar campos y Cancelar, sin JavaScript.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Búsqueda global y paleta Ctrl+K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7 — módulos y registros; funciona también sin JavaScript</a:t>
            </a:r>
            <a:endParaRPr lang="en-US" sz="1300" dirty="0"/>
          </a:p>
        </p:txBody>
      </p:sp>
      <p:pic>
        <p:nvPicPr>
          <p:cNvPr id="4" name="Image 0" descr="capturas/24-paleta-modul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4023360" cy="2514600"/>
          </a:xfrm>
          <a:prstGeom prst="rect">
            <a:avLst/>
          </a:prstGeom>
        </p:spPr>
      </p:pic>
      <p:pic>
        <p:nvPicPr>
          <p:cNvPr id="5" name="Image 1" descr="capturas/25-buscar-resultad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4023360" cy="25146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3840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Paleta Ctrl+K: módulos sin acentos ni mayúsculas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4663440" y="3840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/buscar?q=cliente: módulos, clientes y facturas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vía GET /api/busqueda (2–100 caracteres, ILIKE escapado); la paleta pasa por el servidor Blazor, así que el JWT no llega al navegador. Filtros por listado con *, || y &amp;&amp;.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Pruebas y resultados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9 — la misma versión del código que se muestra en las capturas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F3160"/>
          </a:solidFill>
          <a:ln w="12700">
            <a:solidFill>
              <a:srgbClr val="1F316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1684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xUnit en verde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7157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unitarias, API contra PostgreSQL real y SSR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37160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F3160"/>
          </a:solidFill>
          <a:ln w="12700">
            <a:solidFill>
              <a:srgbClr val="1F316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46304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/ 15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E2E Playwright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7157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en la ejecución principal + API caída aparte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37160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F3160"/>
          </a:solidFill>
          <a:ln w="12700">
            <a:solidFill>
              <a:srgbClr val="1F316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de compilación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27157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dotnet build test.slnx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Cubierto: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altas, modificaciones, eliminaciones, validaciones, búsquedas y errores 403, 404 y API caída.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documento-tecnico.docx, diagramas/, capturas/, evidencias/, guion-demo.md.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FA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Gracias. Siguiente: demostración en vivo.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AxionERP — Entregable, Parte 1</dc:title>
  <dc:subject>PptxGenJS Presentation</dc:subject>
  <dc:creator>PptxGenJS</dc:creator>
  <cp:lastModifiedBy>PptxGenJS</cp:lastModifiedBy>
  <cp:revision>1</cp:revision>
  <dcterms:created xsi:type="dcterms:W3CDTF">2026-09-29T09:18:24Z</dcterms:created>
  <dcterms:modified xsi:type="dcterms:W3CDTF">2026-09-29T09:18:24Z</dcterms:modified>
</cp:coreProperties>
</file>